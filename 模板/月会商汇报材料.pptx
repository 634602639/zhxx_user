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4" r:id="rId2"/>
    <p:sldId id="338" r:id="rId3"/>
    <p:sldId id="339" r:id="rId4"/>
    <p:sldId id="353" r:id="rId5"/>
    <p:sldId id="363" r:id="rId6"/>
    <p:sldId id="355" r:id="rId7"/>
    <p:sldId id="365" r:id="rId8"/>
    <p:sldId id="364" r:id="rId9"/>
    <p:sldId id="366" r:id="rId10"/>
    <p:sldId id="358" r:id="rId11"/>
    <p:sldId id="359" r:id="rId12"/>
    <p:sldId id="360" r:id="rId13"/>
    <p:sldId id="283" r:id="rId14"/>
  </p:sldIdLst>
  <p:sldSz cx="9144000" cy="5143500" type="screen16x9"/>
  <p:notesSz cx="6858000" cy="9144000"/>
  <p:defaultTextStyle>
    <a:defPPr>
      <a:defRPr lang="zh-CN"/>
    </a:defPPr>
    <a:lvl1pPr marL="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165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065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0965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3865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613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03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1930" algn="l" defTabSz="6851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18" autoAdjust="0"/>
  </p:normalViewPr>
  <p:slideViewPr>
    <p:cSldViewPr snapToGrid="0" showGuides="1">
      <p:cViewPr varScale="1">
        <p:scale>
          <a:sx n="157" d="100"/>
          <a:sy n="157" d="100"/>
        </p:scale>
        <p:origin x="610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5314-3F0D-444E-81A5-B182FD15D8A8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3658F-69CF-4253-990D-AAAB6B84C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56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165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065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0965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3865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13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03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193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3658F-69CF-4253-990D-AAAB6B84C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近期运管平台关于节点在位率有误报的情况。已跟工业部门沟通。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3658F-69CF-4253-990D-AAAB6B84C1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12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试训基地：</a:t>
            </a:r>
            <a:r>
              <a:rPr lang="zh-CN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一台业务服务器主板损坏，系统起不来。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3658F-69CF-4253-990D-AAAB6B84C1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14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165" indent="0" algn="ctr">
              <a:buNone/>
              <a:defRPr sz="1400"/>
            </a:lvl3pPr>
            <a:lvl4pPr marL="1028065" indent="0" algn="ctr">
              <a:buNone/>
              <a:defRPr sz="1200"/>
            </a:lvl4pPr>
            <a:lvl5pPr marL="1370965" indent="0" algn="ctr">
              <a:buNone/>
              <a:defRPr sz="1200"/>
            </a:lvl5pPr>
            <a:lvl6pPr marL="1713865" indent="0" algn="ctr">
              <a:buNone/>
              <a:defRPr sz="1200"/>
            </a:lvl6pPr>
            <a:lvl7pPr marL="2056130" indent="0" algn="ctr">
              <a:buNone/>
              <a:defRPr sz="1200"/>
            </a:lvl7pPr>
            <a:lvl8pPr marL="2399030" indent="0" algn="ctr">
              <a:buNone/>
              <a:defRPr sz="1200"/>
            </a:lvl8pPr>
            <a:lvl9pPr marL="274193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1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0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0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3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1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0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19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165" indent="0">
              <a:buNone/>
              <a:defRPr sz="1400" b="1"/>
            </a:lvl3pPr>
            <a:lvl4pPr marL="1028065" indent="0">
              <a:buNone/>
              <a:defRPr sz="1200" b="1"/>
            </a:lvl4pPr>
            <a:lvl5pPr marL="1370965" indent="0">
              <a:buNone/>
              <a:defRPr sz="1200" b="1"/>
            </a:lvl5pPr>
            <a:lvl6pPr marL="1713865" indent="0">
              <a:buNone/>
              <a:defRPr sz="1200" b="1"/>
            </a:lvl6pPr>
            <a:lvl7pPr marL="2056130" indent="0">
              <a:buNone/>
              <a:defRPr sz="1200" b="1"/>
            </a:lvl7pPr>
            <a:lvl8pPr marL="2399030" indent="0">
              <a:buNone/>
              <a:defRPr sz="1200" b="1"/>
            </a:lvl8pPr>
            <a:lvl9pPr marL="274193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165" indent="0">
              <a:buNone/>
              <a:defRPr sz="1400" b="1"/>
            </a:lvl3pPr>
            <a:lvl4pPr marL="1028065" indent="0">
              <a:buNone/>
              <a:defRPr sz="1200" b="1"/>
            </a:lvl4pPr>
            <a:lvl5pPr marL="1370965" indent="0">
              <a:buNone/>
              <a:defRPr sz="1200" b="1"/>
            </a:lvl5pPr>
            <a:lvl6pPr marL="1713865" indent="0">
              <a:buNone/>
              <a:defRPr sz="1200" b="1"/>
            </a:lvl6pPr>
            <a:lvl7pPr marL="2056130" indent="0">
              <a:buNone/>
              <a:defRPr sz="1200" b="1"/>
            </a:lvl7pPr>
            <a:lvl8pPr marL="2399030" indent="0">
              <a:buNone/>
              <a:defRPr sz="1200" b="1"/>
            </a:lvl8pPr>
            <a:lvl9pPr marL="274193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165" indent="0">
              <a:buNone/>
              <a:defRPr sz="900"/>
            </a:lvl3pPr>
            <a:lvl4pPr marL="1028065" indent="0">
              <a:buNone/>
              <a:defRPr sz="800"/>
            </a:lvl4pPr>
            <a:lvl5pPr marL="1370965" indent="0">
              <a:buNone/>
              <a:defRPr sz="800"/>
            </a:lvl5pPr>
            <a:lvl6pPr marL="1713865" indent="0">
              <a:buNone/>
              <a:defRPr sz="800"/>
            </a:lvl6pPr>
            <a:lvl7pPr marL="2056130" indent="0">
              <a:buNone/>
              <a:defRPr sz="800"/>
            </a:lvl7pPr>
            <a:lvl8pPr marL="2399030" indent="0">
              <a:buNone/>
              <a:defRPr sz="800"/>
            </a:lvl8pPr>
            <a:lvl9pPr marL="2741930" indent="0">
              <a:buNone/>
              <a:defRPr sz="8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165" indent="0">
              <a:buNone/>
              <a:defRPr sz="1800"/>
            </a:lvl3pPr>
            <a:lvl4pPr marL="1028065" indent="0">
              <a:buNone/>
              <a:defRPr sz="1500"/>
            </a:lvl4pPr>
            <a:lvl5pPr marL="1370965" indent="0">
              <a:buNone/>
              <a:defRPr sz="1500"/>
            </a:lvl5pPr>
            <a:lvl6pPr marL="1713865" indent="0">
              <a:buNone/>
              <a:defRPr sz="1500"/>
            </a:lvl6pPr>
            <a:lvl7pPr marL="2056130" indent="0">
              <a:buNone/>
              <a:defRPr sz="1500"/>
            </a:lvl7pPr>
            <a:lvl8pPr marL="2399030" indent="0">
              <a:buNone/>
              <a:defRPr sz="1500"/>
            </a:lvl8pPr>
            <a:lvl9pPr marL="274193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165" indent="0">
              <a:buNone/>
              <a:defRPr sz="900"/>
            </a:lvl3pPr>
            <a:lvl4pPr marL="1028065" indent="0">
              <a:buNone/>
              <a:defRPr sz="800"/>
            </a:lvl4pPr>
            <a:lvl5pPr marL="1370965" indent="0">
              <a:buNone/>
              <a:defRPr sz="800"/>
            </a:lvl5pPr>
            <a:lvl6pPr marL="1713865" indent="0">
              <a:buNone/>
              <a:defRPr sz="800"/>
            </a:lvl6pPr>
            <a:lvl7pPr marL="2056130" indent="0">
              <a:buNone/>
              <a:defRPr sz="800"/>
            </a:lvl7pPr>
            <a:lvl8pPr marL="2399030" indent="0">
              <a:buNone/>
              <a:defRPr sz="800"/>
            </a:lvl8pPr>
            <a:lvl9pPr marL="2741930" indent="0">
              <a:buNone/>
              <a:defRPr sz="8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7" y="273845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44" tIns="34272" rIns="68544" bIns="34272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44" tIns="34272" rIns="68544" bIns="34272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A1B04-E672-4228-AD33-761B9E1F3CFE}" type="datetimeFigureOut">
              <a:rPr lang="zh-CN" altLang="en-US" smtClean="0"/>
              <a:t>2026-07-09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CCB4A-351C-4C47-BB97-3A705EF2CC0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16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16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6615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515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415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468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58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48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380" indent="-171450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5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13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03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930" algn="l" defTabSz="6851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833196"/>
            <a:ext cx="9144000" cy="1144775"/>
          </a:xfrm>
        </p:spPr>
        <p:txBody>
          <a:bodyPr>
            <a:noAutofit/>
          </a:bodyPr>
          <a:lstStyle/>
          <a:p>
            <a:pPr defTabSz="610870"/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空军</a:t>
            </a:r>
            <a:r>
              <a:rPr lang="zh-CN" altLang="en-US" b="1" dirty="0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</a:t>
            </a:r>
            <a:r>
              <a:rPr lang="en-US" altLang="zh-CN" b="1" dirty="0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br>
              <a:rPr lang="en-US" altLang="zh-CN" b="1" dirty="0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lang="zh-CN" altLang="en-US" b="1" dirty="0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</a:t>
            </a:r>
            <a:endParaRPr lang="zh-CN" altLang="en-US" b="1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" y="3528931"/>
            <a:ext cx="9143999" cy="1241822"/>
          </a:xfrm>
        </p:spPr>
        <p:txBody>
          <a:bodyPr>
            <a:noAutofit/>
          </a:bodyPr>
          <a:lstStyle/>
          <a:p>
            <a:pPr defTabSz="610870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10870">
              <a:lnSpc>
                <a:spcPct val="150000"/>
              </a:lnSpc>
              <a:spcBef>
                <a:spcPct val="0"/>
              </a:spcBef>
            </a:pPr>
            <a:r>
              <a:rPr lang="en-US" altLang="zh-CN"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7" descr="C:\Users\Administrator\Desktop\一总站政委\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2771030" y="81315"/>
            <a:ext cx="3480861" cy="13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-154940" y="-99885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440285"/>
            <a:ext cx="830414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（一）总体运行情况</a:t>
            </a: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1.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节点运行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情况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空军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共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个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中心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/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节点（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个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空军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级中心、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个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区域级中心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3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个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信息服务节点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），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在线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率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x%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。入网用户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数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累计数据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服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万兆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本月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文件交互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条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</a:t>
            </a:r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、值勤讲评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</a:t>
            </a:r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一、值勤讲评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70191"/>
              </p:ext>
            </p:extLst>
          </p:nvPr>
        </p:nvGraphicFramePr>
        <p:xfrm>
          <a:off x="540160" y="1756660"/>
          <a:ext cx="7886701" cy="23415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4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6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98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8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9446">
                <a:tc>
                  <a:txBody>
                    <a:bodyPr/>
                    <a:lstStyle/>
                    <a:p>
                      <a:pPr indent="8001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</a:rPr>
                        <a:t>     </a:t>
                      </a:r>
                      <a:r>
                        <a:rPr lang="zh-CN" sz="900" dirty="0" smtClean="0">
                          <a:effectLst/>
                        </a:rPr>
                        <a:t>区域</a:t>
                      </a:r>
                      <a:r>
                        <a:rPr lang="en-US" sz="900" dirty="0">
                          <a:effectLst/>
                        </a:rPr>
                        <a:t/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  </a:t>
                      </a:r>
                      <a:r>
                        <a:rPr lang="zh-CN" sz="900" dirty="0">
                          <a:effectLst/>
                        </a:rPr>
                        <a:t>内容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r>
                        <a:rPr lang="zh-CN" sz="900" baseline="0" dirty="0" smtClean="0">
                          <a:solidFill>
                            <a:schemeClr val="bg1"/>
                          </a:solidFill>
                          <a:effectLst/>
                        </a:rPr>
                        <a:t>本</a:t>
                      </a:r>
                      <a:r>
                        <a:rPr lang="zh-CN" sz="900" baseline="0" dirty="0">
                          <a:solidFill>
                            <a:schemeClr val="bg1"/>
                          </a:solidFill>
                          <a:effectLst/>
                        </a:rPr>
                        <a:t>级</a:t>
                      </a:r>
                      <a:endParaRPr lang="zh-CN" sz="1400" baseline="0" dirty="0">
                        <a:solidFill>
                          <a:schemeClr val="bg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东部</a:t>
                      </a:r>
                      <a:endParaRPr lang="zh-CN" sz="16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南部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西部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北部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中部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r>
                        <a:rPr lang="en-US" alt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军</a:t>
                      </a:r>
                      <a:endParaRPr lang="zh-CN" sz="1600" baseline="0" dirty="0">
                        <a:solidFill>
                          <a:schemeClr val="bg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effectLst/>
                        </a:rPr>
                        <a:t>视讯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基地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在线节点数（个）</a:t>
                      </a:r>
                      <a:r>
                        <a:rPr lang="en-US" sz="900" dirty="0">
                          <a:effectLst/>
                        </a:rPr>
                        <a:t>/</a:t>
                      </a:r>
                      <a:endParaRPr lang="zh-CN" sz="14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节点数（个）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x/x</a:t>
                      </a:r>
                      <a:endParaRPr lang="zh-CN" sz="1600" dirty="0">
                        <a:solidFill>
                          <a:schemeClr val="tx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7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节点在线率</a:t>
                      </a:r>
                      <a:r>
                        <a:rPr lang="zh-CN" sz="900">
                          <a:effectLst/>
                        </a:rPr>
                        <a:t>（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0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设备完好率（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计算资源使用率（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存储空间使用率（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1232" marR="6123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8154" y="1219851"/>
            <a:ext cx="53094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064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（一）</a:t>
            </a:r>
            <a:r>
              <a:rPr 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总体</a:t>
            </a:r>
            <a:r>
              <a:rPr 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运行情况统计如表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所示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：</a:t>
            </a:r>
            <a:endParaRPr lang="zh-CN" altLang="en-US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49737" y="4158126"/>
            <a:ext cx="22445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表</a:t>
            </a:r>
            <a:r>
              <a:rPr lang="en-US" altLang="zh-CN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1  </a:t>
            </a: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总体运行情况统计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37372" y="1761870"/>
            <a:ext cx="1909266" cy="45881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076501"/>
            <a:ext cx="8304146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（二）平台故障情况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  <a:sym typeface="+mn-ea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 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   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1.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软件故障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情况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共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处置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XXX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”故障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起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 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XXXX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”业务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起。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故障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统计情况如表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所示：</a:t>
            </a:r>
          </a:p>
          <a:p>
            <a:pPr>
              <a:lnSpc>
                <a:spcPts val="3000"/>
              </a:lnSpc>
            </a:pP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</a:t>
            </a:r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、值勤讲评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3696"/>
              </p:ext>
            </p:extLst>
          </p:nvPr>
        </p:nvGraphicFramePr>
        <p:xfrm>
          <a:off x="628651" y="2811213"/>
          <a:ext cx="7886698" cy="1440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36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34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indent="8001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dirty="0" smtClean="0">
                          <a:effectLst/>
                        </a:rPr>
                        <a:t>     </a:t>
                      </a:r>
                      <a:r>
                        <a:rPr lang="zh-CN" sz="1050" dirty="0" smtClean="0">
                          <a:effectLst/>
                        </a:rPr>
                        <a:t>区域</a:t>
                      </a:r>
                      <a:r>
                        <a:rPr lang="en-US" sz="1050" dirty="0">
                          <a:effectLst/>
                        </a:rPr>
                        <a:t/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  </a:t>
                      </a:r>
                      <a:r>
                        <a:rPr lang="zh-CN" sz="1050" dirty="0" smtClean="0">
                          <a:effectLst/>
                        </a:rPr>
                        <a:t>内容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effectLst/>
                        </a:rPr>
                        <a:t>空军</a:t>
                      </a:r>
                      <a:r>
                        <a:rPr lang="zh-CN" sz="1050" dirty="0" smtClean="0">
                          <a:effectLst/>
                        </a:rPr>
                        <a:t>本</a:t>
                      </a:r>
                      <a:r>
                        <a:rPr lang="zh-CN" sz="1050" dirty="0">
                          <a:effectLst/>
                        </a:rPr>
                        <a:t>级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东部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cs typeface="+mn-cs"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南部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cs typeface="+mn-cs"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西部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cs typeface="+mn-cs"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北部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cs typeface="+mn-cs"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中部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cs typeface="+mn-cs"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r>
                        <a:rPr lang="en-US" alt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军</a:t>
                      </a:r>
                      <a:endParaRPr lang="zh-CN" sz="1600" baseline="0" dirty="0">
                        <a:solidFill>
                          <a:schemeClr val="bg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effectLst/>
                        </a:rPr>
                        <a:t>视讯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基地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业务空信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空信云会议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168410" y="4295774"/>
            <a:ext cx="28071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表</a:t>
            </a:r>
            <a:r>
              <a:rPr lang="en-US" altLang="zh-CN" dirty="0">
                <a:solidFill>
                  <a:schemeClr val="bg1"/>
                </a:solidFill>
                <a:latin typeface="Arial" pitchFamily="34" charset="0"/>
                <a:ea typeface="华文楷体" pitchFamily="2" charset="-122"/>
                <a:cs typeface="Times New Roman" pitchFamily="18" charset="0"/>
              </a:rPr>
              <a:t>2  </a:t>
            </a: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各区域中心故障统计情况</a:t>
            </a:r>
            <a:endParaRPr lang="zh-CN" altLang="en-US" sz="1800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29920" y="2818674"/>
            <a:ext cx="1988457" cy="5138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066536"/>
            <a:ext cx="830414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故障详情如表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3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所示：</a:t>
            </a: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</a:t>
            </a:r>
          </a:p>
          <a:p>
            <a:pPr>
              <a:lnSpc>
                <a:spcPts val="3000"/>
              </a:lnSpc>
            </a:pP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、值勤讲评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51070" y="4671466"/>
            <a:ext cx="2424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表</a:t>
            </a:r>
            <a:r>
              <a:rPr lang="en-US" altLang="zh-CN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3  </a:t>
            </a:r>
            <a:r>
              <a:rPr lang="zh-CN" altLang="zh-CN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各区域中心故障</a:t>
            </a:r>
            <a:r>
              <a:rPr lang="zh-CN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详情</a:t>
            </a:r>
            <a:endParaRPr lang="zh-CN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2851"/>
              </p:ext>
            </p:extLst>
          </p:nvPr>
        </p:nvGraphicFramePr>
        <p:xfrm>
          <a:off x="525331" y="1616343"/>
          <a:ext cx="8249707" cy="3000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1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7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3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 marL="34251" marR="3425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故障单位</a:t>
                      </a:r>
                    </a:p>
                  </a:txBody>
                  <a:tcPr marL="34251" marR="3425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故障原因</a:t>
                      </a:r>
                    </a:p>
                  </a:txBody>
                  <a:tcPr marL="34251" marR="3425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持续时长</a:t>
                      </a:r>
                    </a:p>
                  </a:txBody>
                  <a:tcPr marL="34251" marR="3425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备注</a:t>
                      </a:r>
                    </a:p>
                  </a:txBody>
                  <a:tcPr marL="34251" marR="3425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b="1" kern="1200" dirty="0" smtClean="0">
                          <a:solidFill>
                            <a:schemeClr val="bg1"/>
                          </a:solidFill>
                          <a:effectLst/>
                          <a:latin typeface="方正黑体简体" pitchFamily="2" charset="-122"/>
                          <a:ea typeface="方正黑体简体" pitchFamily="2" charset="-122"/>
                          <a:cs typeface="Times New Roman"/>
                        </a:rPr>
                        <a:t>xx</a:t>
                      </a:r>
                      <a:r>
                        <a:rPr lang="zh-CN" altLang="en-US" sz="1050" b="1" kern="1200" dirty="0" smtClean="0">
                          <a:solidFill>
                            <a:schemeClr val="bg1"/>
                          </a:solidFill>
                          <a:effectLst/>
                          <a:latin typeface="方正黑体简体" pitchFamily="2" charset="-122"/>
                          <a:ea typeface="方正黑体简体" pitchFamily="2" charset="-122"/>
                          <a:cs typeface="Times New Roman"/>
                        </a:rPr>
                        <a:t>月</a:t>
                      </a:r>
                      <a:r>
                        <a:rPr lang="en-US" altLang="zh-CN" sz="1050" b="1" kern="1200" dirty="0" smtClean="0">
                          <a:solidFill>
                            <a:schemeClr val="bg1"/>
                          </a:solidFill>
                          <a:effectLst/>
                          <a:latin typeface="方正黑体简体" pitchFamily="2" charset="-122"/>
                          <a:ea typeface="方正黑体简体" pitchFamily="2" charset="-122"/>
                          <a:cs typeface="Times New Roman"/>
                        </a:rPr>
                        <a:t>xx</a:t>
                      </a:r>
                      <a:r>
                        <a:rPr lang="zh-CN" altLang="en-US" sz="1050" b="1" kern="1200" dirty="0" smtClean="0">
                          <a:solidFill>
                            <a:schemeClr val="bg1"/>
                          </a:solidFill>
                          <a:effectLst/>
                          <a:latin typeface="方正黑体简体" pitchFamily="2" charset="-122"/>
                          <a:ea typeface="方正黑体简体" pitchFamily="2" charset="-122"/>
                          <a:cs typeface="Times New Roman"/>
                        </a:rPr>
                        <a:t>日</a:t>
                      </a: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ea typeface="+mn-ea"/>
                          <a:cs typeface="Times New Roman"/>
                        </a:rPr>
                        <a:t>空军本级</a:t>
                      </a: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kern="1200" dirty="0" err="1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ea typeface="+mn-ea"/>
                          <a:cs typeface="Times New Roman"/>
                        </a:rPr>
                        <a:t>xxxxxx</a:t>
                      </a: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2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ea typeface="+mn-ea"/>
                          <a:cs typeface="Times New Roman"/>
                        </a:rPr>
                        <a:t>xx</a:t>
                      </a:r>
                      <a:r>
                        <a:rPr lang="zh-CN" altLang="zh-CN" sz="1050" kern="12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ea typeface="+mn-ea"/>
                          <a:cs typeface="Times New Roman"/>
                        </a:rPr>
                        <a:t>分钟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zh-CN" sz="1050" kern="120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1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b="1" kern="1200" dirty="0">
                        <a:solidFill>
                          <a:schemeClr val="bg1"/>
                        </a:solidFill>
                        <a:effectLst/>
                        <a:latin typeface="方正黑体简体" pitchFamily="2" charset="-122"/>
                        <a:ea typeface="方正黑体简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1050" kern="1200" dirty="0">
                        <a:solidFill>
                          <a:srgbClr val="000000"/>
                        </a:solidFill>
                        <a:effectLst/>
                        <a:latin typeface="仿宋_GB2312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06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249641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139474"/>
            <a:ext cx="830414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2.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硬件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故障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情况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各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中心目前硬件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状态良好</a:t>
            </a:r>
            <a:r>
              <a:rPr lang="zh-CN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，无影响系统正常运行的重大故障。</a:t>
            </a:r>
          </a:p>
          <a:p>
            <a:pPr>
              <a:lnSpc>
                <a:spcPts val="3000"/>
              </a:lnSpc>
            </a:pPr>
            <a:endParaRPr lang="en-US" altLang="zh-CN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  <a:p>
            <a:pPr>
              <a:lnSpc>
                <a:spcPts val="3000"/>
              </a:lnSpc>
            </a:pPr>
            <a:endParaRPr lang="en-US" altLang="zh-CN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   </a:t>
            </a: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、值勤讲评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099499"/>
              </p:ext>
            </p:extLst>
          </p:nvPr>
        </p:nvGraphicFramePr>
        <p:xfrm>
          <a:off x="617787" y="2029458"/>
          <a:ext cx="7886698" cy="21173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8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34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1136">
                <a:tc>
                  <a:txBody>
                    <a:bodyPr/>
                    <a:lstStyle/>
                    <a:p>
                      <a:pPr indent="8001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dirty="0" smtClean="0">
                          <a:effectLst/>
                        </a:rPr>
                        <a:t>    </a:t>
                      </a:r>
                      <a:r>
                        <a:rPr lang="zh-CN" sz="1050" dirty="0" smtClean="0">
                          <a:effectLst/>
                        </a:rPr>
                        <a:t>区域</a:t>
                      </a:r>
                      <a:r>
                        <a:rPr lang="en-US" sz="1050" dirty="0">
                          <a:effectLst/>
                        </a:rPr>
                        <a:t/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  </a:t>
                      </a:r>
                      <a:r>
                        <a:rPr lang="zh-CN" sz="1050" dirty="0">
                          <a:effectLst/>
                        </a:rPr>
                        <a:t>内容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r>
                        <a:rPr lang="zh-CN" sz="1050" dirty="0" smtClean="0">
                          <a:effectLst/>
                        </a:rPr>
                        <a:t>本</a:t>
                      </a:r>
                      <a:r>
                        <a:rPr lang="zh-CN" sz="1050" dirty="0">
                          <a:effectLst/>
                        </a:rPr>
                        <a:t>级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东部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南部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西部</a:t>
                      </a:r>
                      <a:endParaRPr lang="zh-C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北部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中部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空军</a:t>
                      </a:r>
                      <a:r>
                        <a:rPr lang="en-US" alt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sz="1050" baseline="0" dirty="0" smtClean="0">
                          <a:solidFill>
                            <a:schemeClr val="bg1"/>
                          </a:solidFill>
                          <a:effectLst/>
                        </a:rPr>
                        <a:t>军</a:t>
                      </a:r>
                      <a:endParaRPr lang="zh-CN" sz="1600" baseline="0" dirty="0">
                        <a:solidFill>
                          <a:schemeClr val="bg1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dirty="0" smtClean="0">
                          <a:effectLst/>
                        </a:rPr>
                        <a:t>视讯</a:t>
                      </a:r>
                      <a:endParaRPr lang="en-US" altLang="zh-CN" sz="105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 smtClean="0">
                          <a:effectLst/>
                        </a:rPr>
                        <a:t>基地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7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存储硬盘故障数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solidFill>
                            <a:srgbClr val="000000"/>
                          </a:solidFill>
                          <a:effectLst/>
                          <a:latin typeface="仿宋_GB2312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7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存储电源故障数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7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路由交换设备故障数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安防设备故障数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6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其他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X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仿宋_GB231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165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仿宋_GB2312"/>
                          <a:ea typeface="等线" panose="02010600030101010101" pitchFamily="2" charset="-122"/>
                          <a:cs typeface="Times New Roman"/>
                        </a:rPr>
                        <a:t>x</a:t>
                      </a:r>
                      <a:endParaRPr kumimoji="0" lang="zh-CN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仿宋_GB2312"/>
                        <a:ea typeface="等线" panose="02010600030101010101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258618" y="4406734"/>
            <a:ext cx="27831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表</a:t>
            </a:r>
            <a:r>
              <a:rPr lang="en-US" altLang="zh-CN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4</a:t>
            </a:r>
            <a:r>
              <a:rPr lang="en-US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</a:t>
            </a:r>
            <a:r>
              <a:rPr lang="zh-CN" altLang="zh-CN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各区域</a:t>
            </a:r>
            <a:r>
              <a:rPr lang="zh-CN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中心</a:t>
            </a: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硬件</a:t>
            </a:r>
            <a:r>
              <a:rPr lang="zh-CN" altLang="zh-CN" dirty="0" smtClean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故障详情</a:t>
            </a:r>
            <a:endParaRPr lang="zh-CN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17787" y="2034075"/>
            <a:ext cx="1945436" cy="39894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07426" y="4178459"/>
            <a:ext cx="23391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XXX</a:t>
            </a:r>
            <a:r>
              <a:rPr lang="zh-CN" altLang="zh-CN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XXXXX</a:t>
            </a:r>
            <a:r>
              <a:rPr lang="zh-CN" altLang="zh-CN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</a:t>
            </a:r>
            <a:r>
              <a:rPr lang="zh-CN" altLang="zh-CN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系统起不来。</a:t>
            </a:r>
          </a:p>
        </p:txBody>
      </p:sp>
    </p:spTree>
    <p:extLst>
      <p:ext uri="{BB962C8B-B14F-4D97-AF65-F5344CB8AC3E}">
        <p14:creationId xmlns:p14="http://schemas.microsoft.com/office/powerpoint/2010/main" val="309017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512542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一、值勤讲评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42046" y="1783532"/>
            <a:ext cx="8412025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（三）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DZT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”保障情况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lvl="0"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本月保障</a:t>
            </a:r>
            <a:r>
              <a:rPr lang="zh-CN" altLang="en-US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长期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任务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起，抗震救灾连续保障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天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应急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救援（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和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）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lvl="0" indent="40640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</a:t>
            </a: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    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466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358982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一、值勤讲评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6814" y="2258075"/>
            <a:ext cx="8545918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四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）存在问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题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685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358982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一、值勤讲评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8154" y="2118641"/>
            <a:ext cx="8545918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06400" defTabSz="91440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四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）存在问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题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3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；</a:t>
            </a:r>
            <a:endParaRPr lang="zh-CN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    4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zh-CN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785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440285"/>
            <a:ext cx="830414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3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4</a:t>
            </a:r>
            <a:r>
              <a:rPr lang="zh-CN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</a:t>
            </a:r>
            <a:r>
              <a:rPr lang="zh-CN" altLang="en-US" sz="15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、本月进展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82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12" y="1440285"/>
            <a:ext cx="83041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。</a:t>
            </a:r>
            <a:endParaRPr lang="en-US" altLang="zh-CN" sz="2000" dirty="0" smtClean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、下月计划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875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0840" y="1049020"/>
            <a:ext cx="3896360" cy="3236595"/>
          </a:xfrm>
          <a:prstGeom prst="rect">
            <a:avLst/>
          </a:prstGeom>
        </p:spPr>
        <p:txBody>
          <a:bodyPr wrap="square" lIns="163276" tIns="81637" rIns="163276" bIns="81637">
            <a:noAutofit/>
          </a:bodyPr>
          <a:lstStyle/>
          <a:p>
            <a:pPr algn="just"/>
            <a:r>
              <a:rPr lang="zh-CN" altLang="en-US" sz="1800" dirty="0">
                <a:ln w="6350">
                  <a:solidFill>
                    <a:prstClr val="black"/>
                  </a:solidFill>
                </a:ln>
                <a:solidFill>
                  <a:schemeClr val="bg1"/>
                </a:solidFill>
                <a:effectLst>
                  <a:outerShdw blurRad="127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方正大黑简体" panose="02010601030101010101" pitchFamily="65" charset="-122"/>
                <a:ea typeface="方正大黑简体" panose="02010601030101010101" pitchFamily="65" charset="-122"/>
              </a:rPr>
              <a:t>　</a:t>
            </a:r>
            <a:endParaRPr lang="en-US" altLang="zh-CN" sz="1800" dirty="0" smtClean="0">
              <a:ln w="6350">
                <a:solidFill>
                  <a:prstClr val="black"/>
                </a:solidFill>
              </a:ln>
              <a:solidFill>
                <a:schemeClr val="bg1"/>
              </a:solidFill>
              <a:effectLst>
                <a:outerShdw blurRad="12700" dist="63500" dir="2700000" algn="tl" rotWithShape="0">
                  <a:prstClr val="black">
                    <a:alpha val="40000"/>
                  </a:prstClr>
                </a:outerShdw>
              </a:effectLst>
              <a:latin typeface="方正大黑简体" panose="02010601030101010101" pitchFamily="65" charset="-122"/>
              <a:ea typeface="方正大黑简体" panose="02010601030101010101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9926" y="1440285"/>
            <a:ext cx="8304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</a:t>
            </a:r>
            <a:endParaRPr lang="zh-CN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endParaRPr lang="en-US" altLang="zh-CN" sz="20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" name="Picture 7" descr="C:\Users\Administrator\Desktop\一总站政委\6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6" y="6"/>
            <a:ext cx="1235563" cy="47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5562" y="89562"/>
            <a:ext cx="7418510" cy="300083"/>
          </a:xfrm>
          <a:prstGeom prst="rect">
            <a:avLst/>
          </a:prstGeom>
          <a:noFill/>
        </p:spPr>
        <p:txBody>
          <a:bodyPr wrap="square" lIns="68472" tIns="34236" rIns="68472" bIns="34236" rtlCol="0">
            <a:spAutoFit/>
          </a:bodyPr>
          <a:lstStyle/>
          <a:p>
            <a:pPr defTabSz="684530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空军信息服务中心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0" y="479201"/>
            <a:ext cx="9144000" cy="436245"/>
          </a:xfrm>
          <a:prstGeom prst="rect">
            <a:avLst/>
          </a:prstGeom>
          <a:solidFill>
            <a:schemeClr val="bg1">
              <a:lumMod val="65000"/>
              <a:alpha val="37000"/>
            </a:schemeClr>
          </a:solidFill>
        </p:spPr>
        <p:txBody>
          <a:bodyPr wrap="square" lIns="68472" tIns="34236" rIns="68472" bIns="34236" rtlCol="0">
            <a:spAutoFit/>
          </a:bodyPr>
          <a:lstStyle/>
          <a:p>
            <a:pPr algn="ctr" defTabSz="684530"/>
            <a:r>
              <a:rPr lang="zh-CN" altLang="en-US" sz="2400" b="1" noProof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400" b="1" noProof="1" smtClean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、措施建议</a:t>
            </a:r>
            <a:endParaRPr lang="zh-CN" altLang="en-US" sz="2400" b="1" noProof="1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124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C:\Users\Administrator\Desktop\一总站政委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7" t="5331" r="31352" b="71449"/>
          <a:stretch>
            <a:fillRect/>
          </a:stretch>
        </p:blipFill>
        <p:spPr bwMode="auto">
          <a:xfrm>
            <a:off x="2403603" y="407703"/>
            <a:ext cx="4325069" cy="167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0" y="2324376"/>
            <a:ext cx="9144000" cy="992579"/>
          </a:xfrm>
          <a:prstGeom prst="rect">
            <a:avLst/>
          </a:prstGeom>
          <a:noFill/>
        </p:spPr>
        <p:txBody>
          <a:bodyPr wrap="square" lIns="68436" tIns="34218" rIns="68436" bIns="34218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完 毕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4202</TotalTime>
  <Words>666</Words>
  <Application>Microsoft Office PowerPoint</Application>
  <PresentationFormat>全屏显示(16:9)</PresentationFormat>
  <Paragraphs>247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等线 Light</vt:lpstr>
      <vt:lpstr>方正大黑简体</vt:lpstr>
      <vt:lpstr>方正黑体简体</vt:lpstr>
      <vt:lpstr>仿宋_GB2312</vt:lpstr>
      <vt:lpstr>华文楷体</vt:lpstr>
      <vt:lpstr>宋体</vt:lpstr>
      <vt:lpstr>微软雅黑</vt:lpstr>
      <vt:lpstr>Arial</vt:lpstr>
      <vt:lpstr>Calibri</vt:lpstr>
      <vt:lpstr>Times New Roman</vt:lpstr>
      <vt:lpstr>Office 主题​​</vt:lpstr>
      <vt:lpstr>空军业务 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空军分域网系运管执勤部位 周会商情况汇报</dc:title>
  <dc:creator>lenovo</dc:creator>
  <cp:lastModifiedBy>21943</cp:lastModifiedBy>
  <cp:revision>464</cp:revision>
  <dcterms:created xsi:type="dcterms:W3CDTF">2022-08-23T01:53:00Z</dcterms:created>
  <dcterms:modified xsi:type="dcterms:W3CDTF">2026-07-09T03:01:46Z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2052-11.8.2.8453</vt:lpwstr>
  </property>
  <property fmtid="{D5CDD505-2E9C-101B-9397-08002B2CF9AE}" pid="3" name="ICV">
    <vt:lpwstr>A639C89A39574F44BC88077B239462A0_13</vt:lpwstr>
  </property>
</Properties>
</file>